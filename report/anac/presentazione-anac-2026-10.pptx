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c8f274c-5618-86bb-2039-6d998a87f166}">
          <p14:sldIdLst>
            <p14:sldId id="256"/>
            <p14:sldId id="257"/>
            <p14:sldId id="258"/>
          </p14:sldIdLst>
        </p14:section>
        <p14:section name="Problemi gravi" id="{90eb13a0-7c93-9071-46cc-34c72ac97aa9}">
          <p14:sldIdLst>
            <p14:sldId id="259"/>
            <p14:sldId id="260"/>
            <p14:sldId id="261"/>
            <p14:sldId id="262"/>
          </p14:sldIdLst>
        </p14:section>
        <p14:section name="Problemi di gravità media" id="{fb44ea4c-6475-1077-941f-871bc6c00d17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orrezioni semplici" id="{0a621775-1d12-1ea0-cf91-493e863efa40}">
          <p14:sldIdLst>
            <p14:sldId id="271"/>
          </p14:sldIdLst>
        </p14:section>
        <p14:section name="Metodo" id="{4162b2d0-237a-e9b5-7209-4a16516443d8}">
          <p14:sldIdLst>
            <p14:sldId id="272"/>
            <p14:sldId id="273"/>
          </p14:sldIdLst>
        </p14:section>
        <p14:section name="Proposta" id="{0805dfb0-0426-aec5-e6ed-ae7df8508c40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Obiettivo dell'incontro: concordare con ANAC le correzioni e il modo di verificarle. Non è una valutazione del lavoro di ANAC: il patrimonio di dati è tra i più ampi d'Europa.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Messaggio chiave: i dati ci sono e sono preziosi; i difetti sono nella pubblicazione e si correggono. Ogni numero è riproducibile da chiunque.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Mesi OCDS diversi servono lo stesso file, con il solo campo uri riscritto
Misura: 96 mesi serviti, 80 contenuti distinti; 24 mesi in 8 gruppi differiscono di 1-3 byte (cifre del mese nel campo uri)
Conferma indipendente: AgID, Cruscotto Italia etl/sources/anac.py commit 2bc27d9: «i 12 file OCDS usati erano 4 file distinti»
Scheda tecnica P01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OCDS fermo a marzo 2026; del 2026 è pubblicato solo marzo
Misura: 2025/12, 2026/01, 2026/02 e da 2026/04 in poi rispondono 404; il file di marzo contiene solo release di marzo (e 1.139 di aprile)
Conferma indipendente: AgID, Cruscotto Italia etl/sources/anac.py commit 2bc27d9: «ANAC non rigenera l'OCDS da aprile 2026»
Scheda tecnica P02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OCDS 2026: il fornitore aggiudicatario manca nell'80% degli award, contro il 99% degli anni precedenti
Misura: Marzo 2026 (unico mese 2026 pubblicato): award con fornitore 20,4% (21.927/107.318), e per il 97,3% degli altri i tabellari ANAC hanno l'aggiudicatario. Negli anni precedenti il fornitore c'è: 99,9% (2019/03), 99,6% (2022/06), 98,9% (2024/10, campioni di 28-40 mila release). È una regressione della generazione 2026
Conferma indipendente: Seconda via indipendente (tools/verifiche/seconde_vie.py, codice e mese diversi): ottobre 2024 → 99,2% di award con fornitore su 108.437, quindi il difetto è proprio del 2026. Coerente con il rapporto «circa 1/5» riportato da AgID
Scheda tecnica P03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Aggiornamenti mensili (delta) rimossi senza regola dichiarata; gennaio-marzo 2026 persi
Misura: 20260101-, 20260201-, 20260301-cig_csv.zip → 404; nessun file annuale 2026; a settembre 6 delta in linea, a ottobre 7
Conferma indipendente: AgID, scripts/anac_archivio_mensile.sh: «finestra mobile di ~7 mesi … il file più vecchio sparisce e non si recupera più»
Scheda tecnica P08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OCDS: date delle release in formato non conforme in tutte le release
Misura: Formato di release.date non conforme a RFC 3339 in tutte le release di marzo 2026 ('2026-03-13 17:30:20.636T12:00:00Z'; 13,4% vuote), di ottobre 2024 e di giugno 2022; conforme nel 2019 ('2021-12-02T12:00:00Z'). Il difetto è comparso fra il 2021 e il 2023
Conferma indipendente: Seconda via indipendente (parser di date standard di Python, mese diverso): ottobre 2024, 0 date valide su 117.271 release
Scheda tecnica P04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OCDS: copertura parziale delle aggiudicazioni rispetto ai tabellari
Misura: Aggiudicazioni definitive del mese presenti anche nell'OCDS: 67% a marzo 2026 (67.282/99.949), 77,7% a ottobre 2024 (80.863/104.087)
Conferma indipendente: Seconda via indipendente su un mese diverso (ottobre 2024, tools/verifiche/seconde_vie.py): copertura 77,7%; il difetto c'è in entrambi i periodi
Scheda tecnica P05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REST OCDS dichiarata ma non funzionante
Misura: Endpoint version, releases, awards su api.anticorruzione.it/opendata/ocds/api/v1 → 404; swagger.json non è JSON valido
Conferma indipendente: Riprodotto il 27/10/2026 da una seconda rete (rete domestica, IP diverso dal server): version, releases e awards → 404
Scheda tecnica P06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Mesi mancanti di smartcig (giugno e luglio 2026) e distribuzione JSON interrotta
Misura: 
Conferma indipendente: Riprodotto il 27/10/2026 da una seconda rete: smartcig 20260601 e 20260701 → 404 in CSV e JSON; 20260801 → 200 in CSV, 404 in JSON
Scheda tecnica P09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catalogo elenca risorse inesistenti
Misura: 4 risorse elencate rispondono 404 il 27/10/2026: OCDS 2025/12, 2026/01, 2026/02 e smartcig-2025_csv_logCsv.csv
Conferma indipendente: AgID, scripts/anac_archivio_mensile.sh: «202304-202603 in 404 anche se elencati nel log»
Scheda tecnica P10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 dei programmi non-browser: risposta 200 text/html invece dei metadati del file
Misura: HEAD con user-agent python-requests o curl → 200 text/html; con user-agent da browser → 200 application/zip; GET → il file con qualunque user-agent
Conferma indipendente: Riprodotto il 27/10/2026 da due reti diverse (datacenter 51.158.36.151 e rete domestica). AgID, scripts/anac_archivio_mensile.sh: «il firewall risponde 200 con una pagina di blocco» (contesto della loro osservazione non specificato)
Scheda tecnica P12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CUP 'ND' al posto del codice in 1.951.844 righe
Misura: 
Conferma indipendente: Seconda via indipendente (modulo csv di Python, tools/verifiche/seconde_vie.py): 1.951.844 righe con CUP 'ND' su 7.228.216, stesso numero
Scheda tecnica P14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Aggiornamenti mensili 2026 con righe non conformi al formato CSV (escape \" invece di "")
Misura: 158 righe con \" nei delta 2026, nessuna nei file annuali 2007-2025; duckdb in modalità rigorosa ne scarta 55, il lettore csv di Python in modalità strict ne rifiuta 156
Conferma indipendente: Seconda via indipendente: lettore csv di Python in modalità strict (tools/verifiche/seconde_vie.py), che rifiuta 156 delle 158 righe con escape
Scheda tecnica P16 nel documento per ANAC.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Correzioni di configurazione e di metadati: poco lavoro, beneficio immediato per chi riusa 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Istruzioni complete in RIPRODURRE.md nel repository. Il controllo dal vivo gira ogni mattina sul nostro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ERTINA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0F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7324D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82"/>
                </a:solidFill>
              </a:rPr>
              <a:t>Osservatorio Nazionale Sovranità Digitale · I dati aperti di ANAC: problemi e rimedi · ottobre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 dati aperti di ANAC: quindici problemi, quindici rimedi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F3"/>
                </a:solidFill>
              </a:rPr>
              <a:t>Rilevazione di ottobre 2026 sulla Banca Dati Nazionale dei Contratti Pubblici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0F3"/>
                </a:solidFill>
              </a:rPr>
              <a:t>Osservatorio Nazionale Sovranità Digitale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Un patrimonio prezioso, che oggi non si può usare in modo affidabile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milioni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codici di gara (CIG) dal 2007 nella banca dati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64992" y="146304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confermati due volte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1344" y="146304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gravità alta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97696" y="146304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riproducibile da chiunque, con pochi comandi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problemi sono correggibili, e ciascuno ha un controllo automatico che ci dirà, giorno per giorno, quando è risolto.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AgID ha documentato in modo indipendente diversi degli stessi problemi nel codice pubblico di Cruscotto Italia.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Sintesi: quindici problemi, in ordine di gravità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89888"/>
            <a:ext cx="530352" cy="530352"/>
          </a:xfrm>
          <a:prstGeom prst="ellipse">
            <a:avLst/>
          </a:prstGeom>
          <a:solidFill>
            <a:srgbClr val="A61919"/>
          </a:solidFill>
          <a:ln w="12700">
            <a:solidFill>
              <a:srgbClr val="A619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441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OCDS duplicati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234440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389888"/>
            <a:ext cx="530352" cy="530352"/>
          </a:xfrm>
          <a:prstGeom prst="ellipse">
            <a:avLst/>
          </a:prstGeom>
          <a:solidFill>
            <a:srgbClr val="A61919"/>
          </a:solidFill>
          <a:ln w="12700">
            <a:solidFill>
              <a:srgbClr val="A619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389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441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OCDS fermo a marzo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1389888"/>
            <a:ext cx="530352" cy="530352"/>
          </a:xfrm>
          <a:prstGeom prst="ellipse">
            <a:avLst/>
          </a:prstGeom>
          <a:solidFill>
            <a:srgbClr val="A61919"/>
          </a:solidFill>
          <a:ln w="12700">
            <a:solidFill>
              <a:srgbClr val="A619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389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13441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vincitore manca negli appalti 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167128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322576"/>
            <a:ext cx="530352" cy="530352"/>
          </a:xfrm>
          <a:prstGeom prst="ellipse">
            <a:avLst/>
          </a:prstGeom>
          <a:solidFill>
            <a:srgbClr val="A61919"/>
          </a:solidFill>
          <a:ln w="12700">
            <a:solidFill>
              <a:srgbClr val="A6191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322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2768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mensili cancellati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2167128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2322576"/>
            <a:ext cx="530352" cy="530352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2322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2768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non leggibili dagli strumenti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2167128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2322576"/>
            <a:ext cx="530352" cy="530352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2322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22768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Aggiudicazioni assenti dall'OCDS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099816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255264"/>
            <a:ext cx="530352" cy="530352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255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320954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per programmi non funzionante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97680" y="3099816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3255264"/>
            <a:ext cx="530352" cy="530352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34840" y="3255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320954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Affidamenti sotto soglia mancanti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46720" y="3099816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3255264"/>
            <a:ext cx="530352" cy="530352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3255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320954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catalogo promette file che non esistono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4032504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187952"/>
            <a:ext cx="530352" cy="530352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4187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4142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Informazioni false ai programmi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297680" y="4032504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4840" y="4187952"/>
            <a:ext cx="530352" cy="530352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34840" y="4187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120640" y="4142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Contratti scollegati dai progetti finanziati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046720" y="4032504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83880" y="4187952"/>
            <a:ext cx="530352" cy="530352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83880" y="4187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P16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869680" y="4142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2026 non conformi allo standard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48640" y="4965192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" y="5120640"/>
            <a:ext cx="530352" cy="530352"/>
          </a:xfrm>
          <a:prstGeom prst="ellipse">
            <a:avLst/>
          </a:prstGeom>
          <a:solidFill>
            <a:srgbClr val="5C6F82"/>
          </a:solidFill>
          <a:ln w="12700">
            <a:solidFill>
              <a:srgbClr val="5C6F8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5800" y="5120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1371600" y="5074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licenze diverse per gli stessi dati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297680" y="4965192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34840" y="5120640"/>
            <a:ext cx="530352" cy="530352"/>
          </a:xfrm>
          <a:prstGeom prst="ellipse">
            <a:avLst/>
          </a:prstGeom>
          <a:solidFill>
            <a:srgbClr val="5C6F82"/>
          </a:solidFill>
          <a:ln w="12700">
            <a:solidFill>
              <a:srgbClr val="5C6F8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434840" y="5120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120640" y="5074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dichiarate 4 volte quelle reali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046720" y="4965192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83880" y="5120640"/>
            <a:ext cx="530352" cy="530352"/>
          </a:xfrm>
          <a:prstGeom prst="ellipse">
            <a:avLst/>
          </a:prstGeom>
          <a:solidFill>
            <a:srgbClr val="5C6F82"/>
          </a:solidFill>
          <a:ln w="12700">
            <a:solidFill>
              <a:srgbClr val="5C6F8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183880" y="5120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8869680" y="5074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impronta per sapere se un file è cambiato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  </a:t>
            </a:r>
            <a:pPr indent="0" marL="0">
              <a:buNone/>
            </a:pPr>
            <a:r>
              <a:rPr lang="en-US" sz="1200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  </a:t>
            </a:r>
            <a:pPr indent="0" marL="0">
              <a:buNone/>
            </a:pPr>
            <a:r>
              <a:rPr lang="en-US" sz="12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Mesi OCDS duplicati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1919"/>
          </a:solidFill>
          <a:ln w="12700">
            <a:solidFill>
              <a:srgbClr val="A619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alta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mesi su 96 sono la copia di un altro mese: cambia solo l'indirizzo scritto dentro il file.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serie storiche sono falsate e nulla lo segnala: chi analizza quegli anni conta due volte gli stessi appalti.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Rigenerare i mesi dal contenuto reale e impedire che un mese identico a un altro venga pubblicato.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giorno: nessuna coppia di mesi identici.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OCDS fermo a marzo 2026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1919"/>
          </a:solidFill>
          <a:ln w="12700">
            <a:solidFill>
              <a:srgbClr val="A619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alta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2026 è pubblicato solo marzo. Da aprile lo standard internazionale non riceve dati.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 usa lo standard internazionale, in Europa e nel mondo, gli appalti italiani si fermano a marzo.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Pubblicare i mesi mancanti, o dichiarare sulla pagina la sospensione e la data di ripresa.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mese, dopo il giorno 2: il mese precedente è pubblicato.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Il vincitore manca negli appalti 2026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1919"/>
          </a:solidFill>
          <a:ln w="12700">
            <a:solidFill>
              <a:srgbClr val="A619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alta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2026 il fornitore manca in 4 aggiudicazioni su 5. Negli anni precedenti c'era nel 99% dei casi.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standard internazionale non si sa chi vince gli appalti dell'anno in corso.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Ripristinare l'esportazione del fornitore, che ANAC già possiede, e rigenerare il 2026.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mese: quota di aggiudicazioni con fornitore.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Aggiornamenti mensili cancellati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1919"/>
          </a:solidFill>
          <a:ln w="12700">
            <a:solidFill>
              <a:srgbClr val="A619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alta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Gennaio, febbraio e marzo 2026 non sono più scaricabili, e non esiste un file completo dell'anno.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 non li ha archiviati in tempo, quei tre mesi di contratti sono persi.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Conservare gli aggiornamenti fino al file annuale e dichiarare la regola di conservazione.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giorno: nessun file sparisce prima del file completo successivo.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Date non leggibili dagli strumenti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2022 le date sono in un formato non standard; nel 2026 il 13% non ha data.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strumenti standard non riescono a collocare gli appalti nel tempo senza correzioni manuali.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nel formato standard internazionale (ISO 8601), sempre valorizzate.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di date valide in ogni 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Aggiudicazioni assenti dall'OCDS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il 22% e il 33% delle aggiudicazioni presenti nella banca dati non arriva nell'OCDS.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usa solo lo standard internazionale sottostima appalti e spesa.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Includere tutte le aggiudicazioni, o dichiarare il criterio di esclusione.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mese: rapporto fra OCDS e dati tabellari.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Interfaccia per programmi non funzionante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L'interfaccia per l'accesso ai dati in tempo reale, descritta sul portale, risponde «non trovato».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segue la documentazione ufficiale non ottiene nulla.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Ripristinare l'interfaccia, o toglierla dalla documentazione.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giorno: prova degli indirizzi documentati.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Affidamenti sotto soglia mancanti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Mancano giugno e luglio 2026 degli affidamenti sotto soglia; il formato JSON si è fermato a maggio.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Mancano proprio gli affidamenti diretti, quelli a più alto rischio.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Pubblicare i mesi mancanti; riprendere il JSON o dichiararne la fine.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giorno: continuità di ogni serie mensile.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Il catalogo promette file che non esistono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file elencati nel catalogo rispondono «non trovato».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scarichi automatici falliscono senza spiegazione.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Allineare il catalogo ai file realmente pubblicati.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giorno: ogni file elencato esiste.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Informazioni false ai programmi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richiesta automatica il server risponde «tutto bene» ma con una pagina web al posto dei dati del file.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controlli automatici vengono ingannati senza alcun errore: aggiornamenti non rilevati.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risposta a browser e programmi, oppure un errore esplicito.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giorno: confronto fra browser e programma.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Contratti scollegati dai progetti finanziati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 milioni di righe riportano «ND» al posto del codice del progetto (CUP).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segue il denaro pubblico, PNRR compreso, dal finanziamento al contratto.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Lasciare il campo vuoto quando il codice manca, e documentare la convenzione.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di righe con «ND».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File 2026 non conformi allo standard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" cy="685800"/>
          </a:xfrm>
          <a:prstGeom prst="ellipse">
            <a:avLst/>
          </a:prstGeom>
          <a:solidFill>
            <a:srgbClr val="A66300"/>
          </a:solidFill>
          <a:ln w="12700">
            <a:solidFill>
              <a:srgbClr val="A66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Gravità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va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quest'anno alcune righe usano virgolette fuori standard; fino al 2025 no.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strumenti standard scartano o leggono male quelle righe.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E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 atteso da ANAC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9260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Esportare secondo lo standard CSV, come negli anni precedenti.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verificheremo che non si ripresenti: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righe rifiutate in ogni nuovo 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Tre correzioni semplici, di gravità bassa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64792"/>
            <a:ext cx="585216" cy="585216"/>
          </a:xfrm>
          <a:prstGeom prst="ellipse">
            <a:avLst/>
          </a:prstGeom>
          <a:solidFill>
            <a:srgbClr val="5C6F82"/>
          </a:solidFill>
          <a:ln w="12700">
            <a:solidFill>
              <a:srgbClr val="5C6F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642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licenze diverse per gli stessi dati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642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licenza in catalogo, pagina e file.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82112"/>
            <a:ext cx="585216" cy="585216"/>
          </a:xfrm>
          <a:prstGeom prst="ellipse">
            <a:avLst/>
          </a:prstGeom>
          <a:solidFill>
            <a:srgbClr val="5C6F82"/>
          </a:solidFill>
          <a:ln w="12700">
            <a:solidFill>
              <a:srgbClr val="5C6F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82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0815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dichiarate 4 volte quelle reali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0815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Dichiarare la dimensione del file servito.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599432"/>
            <a:ext cx="585216" cy="585216"/>
          </a:xfrm>
          <a:prstGeom prst="ellipse">
            <a:avLst/>
          </a:prstGeom>
          <a:solidFill>
            <a:srgbClr val="5C6F82"/>
          </a:solidFill>
          <a:ln w="12700">
            <a:solidFill>
              <a:srgbClr val="5C6F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599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4988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impronta per sapere se un file è cambiato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49884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Rimedio: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Esporre l'ETag, per scaricare solo ciò che cambia.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Ogni problema è confermato per due vie indipendenti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Abbiamo scaricato l'intero portale: 1.797 risorse, 12 milioni di codici di gara (CIG), file conservati con impronta digitale (sha256).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4256" y="1463040"/>
            <a:ext cx="640080" cy="6400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34256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34256" y="28346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problema è rifatto con codice diverso, su un altro mese o da un'altra rete. Ciò che non regge è stato tolto o corretto.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19872" y="1463040"/>
            <a:ext cx="640080" cy="64008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19872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Riscontrato da AgID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28346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 problemi sono documentati, indipendentemente da noi, nel codice pubblico di Cruscotto Italia.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un nostro numero si è rivelato sbagliato lo abbiamo corretto e registrato pubblicamente nel registro delle revisioni del rendiconto tecnico.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Chiunque può rifare tutto, con pochi comandi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949440" cy="3383280"/>
          </a:xfrm>
          <a:prstGeom prst="roundRect">
            <a:avLst>
              <a:gd name="adj" fmla="val 2703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github.com/mxmap-it/analisi-spesa-ict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tools/verifica_anac.sh ambiente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tools/verifica_anac.sh dal-vivo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tools/verifica_anac.sh scarica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tools/verifica_anac.sh snapshot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tools/verifica_anac.sh verifiche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tools/verifica_anac.sh confronta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463040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vivo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in pochi minuti lo stato attuale del portale: mostra quali problemi sono risolti.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Dallo snapshot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Rifà i numeri esatti del rapporto sugli stessi 349 file, verificati con la loro impronta digitale.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La nostra proposta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66928" cy="566928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642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referente tecnico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40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contatto in ANAC con cui verificare le schede tecniche e concordare i rimedi.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45920"/>
            <a:ext cx="566928" cy="566928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642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le correzioni rapide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40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Catalogo, licenza, dimensioni, impronte dei file, risposte ai programmi: lavoro di configurazione.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86200"/>
            <a:ext cx="566928" cy="566928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904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le correzioni strutturali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480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Rigenerazione dell'OCDS (mesi duplicati, 2026, fornitore, date) e conservazione degli aggiornamenti mensili.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36118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886200"/>
            <a:ext cx="566928" cy="566928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904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pubblica e continua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480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nostri controlli girano ogni giorno: ogni correzione diventa visibile, e lo riconosceremo pubblicamente.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Grazie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F3"/>
                </a:solidFill>
              </a:rPr>
              <a:t>Documento con le schede tecniche: analisi-spesa-ict.mxmap.it/rendiconti/anac-2026-10-problemi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0F3"/>
                </a:solidFill>
              </a:rPr>
              <a:t>Codice e prove: github.com/mxmap-it/analisi-spesa-ict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0F3"/>
                </a:solidFill>
              </a:rPr>
              <a:t>Osservatorio Nazionale Sovranità Digitale · osservatorio.mxmap.it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servatorio">
  <a:themeElements>
    <a:clrScheme name="Osservatorio">
      <a:dk1>
        <a:srgbClr val="1B2631"/>
      </a:dk1>
      <a:lt1>
        <a:srgbClr val="FFFFFF"/>
      </a:lt1>
      <a:dk2>
        <a:srgbClr val="17324D"/>
      </a:dk2>
      <a:lt2>
        <a:srgbClr val="EEF3F8"/>
      </a:lt2>
      <a:accent1>
        <a:srgbClr val="0066CC"/>
      </a:accent1>
      <a:accent2>
        <a:srgbClr val="A61919"/>
      </a:accent2>
      <a:accent3>
        <a:srgbClr val="A66300"/>
      </a:accent3>
      <a:accent4>
        <a:srgbClr val="5C6F82"/>
      </a:accent4>
      <a:accent5>
        <a:srgbClr val="008758"/>
      </a:accent5>
      <a:accent6>
        <a:srgbClr val="CFE0F3"/>
      </a:accent6>
      <a:hlink>
        <a:srgbClr val="0066CC"/>
      </a:hlink>
      <a:folHlink>
        <a:srgbClr val="17324D"/>
      </a:folHlink>
    </a:clrScheme>
    <a:fontScheme name="Osservator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dati aperti di ANAC: problemi e rimedi</dc:title>
  <dc:subject>PptxGenJS Presentation</dc:subject>
  <dc:creator>Osservatorio Nazionale Sovranità Digitale</dc:creator>
  <cp:lastModifiedBy>Osservatorio Nazionale Sovranità Digitale</cp:lastModifiedBy>
  <cp:revision>1</cp:revision>
  <dcterms:created xsi:type="dcterms:W3CDTF">2026-10-27T16:56:17Z</dcterms:created>
  <dcterms:modified xsi:type="dcterms:W3CDTF">2026-10-27T16:56:17Z</dcterms:modified>
</cp:coreProperties>
</file>